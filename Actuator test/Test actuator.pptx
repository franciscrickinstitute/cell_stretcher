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5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rrerx\Documents\GitHub\Cell_stretcher_8DOF\Accuracy%20actuator%208DOF%20cell%20stretcher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rrerx\Documents\GitHub\Cell_stretcher_8DOF\Accuracy%20actuator%208DOF%20cell%20stretcher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errerx\Documents\GitHub\Cell_stretcher_8DOF\Accuracy%20actuator%208DOF%20cell%20stretche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Cell stretcher test (10</a:t>
            </a:r>
            <a:r>
              <a:rPr lang="en-US" sz="1200" baseline="0"/>
              <a:t> samples of </a:t>
            </a:r>
            <a:r>
              <a:rPr lang="en-US" sz="1200" b="0" i="0" u="none" strike="noStrike" baseline="0">
                <a:effectLst/>
              </a:rPr>
              <a:t>400 steps i</a:t>
            </a:r>
            <a:r>
              <a:rPr lang="en-US" sz="1200"/>
              <a:t>ncrements)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lineMarker"/>
        <c:varyColors val="0"/>
        <c:ser>
          <c:idx val="1"/>
          <c:order val="0"/>
          <c:spPr>
            <a:ln w="19050">
              <a:noFill/>
            </a:ln>
          </c:spPr>
          <c:xVal>
            <c:numRef>
              <c:f>Sheet2!$C$14:$C$16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Sheet2!$D$14:$D$16</c:f>
              <c:numCache>
                <c:formatCode>General</c:formatCode>
                <c:ptCount val="3"/>
                <c:pt idx="0">
                  <c:v>625</c:v>
                </c:pt>
                <c:pt idx="1">
                  <c:v>1258</c:v>
                </c:pt>
                <c:pt idx="2">
                  <c:v>1893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49E-4870-AB30-9E45D865E87E}"/>
            </c:ext>
          </c:extLst>
        </c:ser>
        <c:ser>
          <c:idx val="2"/>
          <c:order val="1"/>
          <c:spPr>
            <a:ln w="19050" cap="rnd">
              <a:noFill/>
              <a:round/>
            </a:ln>
            <a:effectLst/>
          </c:spPr>
          <c:xVal>
            <c:numRef>
              <c:f>Sheet2!$E$14:$E$16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Sheet2!$F$14:$F$16</c:f>
              <c:numCache>
                <c:formatCode>General</c:formatCode>
                <c:ptCount val="3"/>
                <c:pt idx="0">
                  <c:v>627</c:v>
                </c:pt>
                <c:pt idx="1">
                  <c:v>1260</c:v>
                </c:pt>
                <c:pt idx="2">
                  <c:v>1895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49E-4870-AB30-9E45D865E87E}"/>
            </c:ext>
          </c:extLst>
        </c:ser>
        <c:ser>
          <c:idx val="3"/>
          <c:order val="2"/>
          <c:spPr>
            <a:ln w="19050" cap="rnd">
              <a:noFill/>
              <a:round/>
            </a:ln>
            <a:effectLst/>
          </c:spPr>
          <c:xVal>
            <c:numRef>
              <c:f>Sheet2!$G$14:$G$16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Sheet2!$H$14:$H$16</c:f>
              <c:numCache>
                <c:formatCode>General</c:formatCode>
                <c:ptCount val="3"/>
                <c:pt idx="0">
                  <c:v>628</c:v>
                </c:pt>
                <c:pt idx="1">
                  <c:v>1264</c:v>
                </c:pt>
                <c:pt idx="2">
                  <c:v>1899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49E-4870-AB30-9E45D865E87E}"/>
            </c:ext>
          </c:extLst>
        </c:ser>
        <c:ser>
          <c:idx val="4"/>
          <c:order val="3"/>
          <c:spPr>
            <a:ln w="19050" cap="rnd">
              <a:noFill/>
              <a:round/>
            </a:ln>
            <a:effectLst/>
          </c:spPr>
          <c:xVal>
            <c:numRef>
              <c:f>Sheet2!$I$14:$I$16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Sheet2!$J$14:$J$16</c:f>
              <c:numCache>
                <c:formatCode>General</c:formatCode>
                <c:ptCount val="3"/>
                <c:pt idx="0">
                  <c:v>628</c:v>
                </c:pt>
                <c:pt idx="1">
                  <c:v>1263</c:v>
                </c:pt>
                <c:pt idx="2">
                  <c:v>1899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49E-4870-AB30-9E45D865E87E}"/>
            </c:ext>
          </c:extLst>
        </c:ser>
        <c:ser>
          <c:idx val="5"/>
          <c:order val="4"/>
          <c:spPr>
            <a:ln w="19050" cap="rnd">
              <a:noFill/>
              <a:round/>
            </a:ln>
            <a:effectLst/>
          </c:spPr>
          <c:xVal>
            <c:numRef>
              <c:f>Sheet2!$K$14:$K$16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Sheet2!$L$14:$L$16</c:f>
              <c:numCache>
                <c:formatCode>General</c:formatCode>
                <c:ptCount val="3"/>
                <c:pt idx="0">
                  <c:v>631</c:v>
                </c:pt>
                <c:pt idx="1">
                  <c:v>1266</c:v>
                </c:pt>
                <c:pt idx="2">
                  <c:v>1901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49E-4870-AB30-9E45D865E87E}"/>
            </c:ext>
          </c:extLst>
        </c:ser>
        <c:ser>
          <c:idx val="6"/>
          <c:order val="5"/>
          <c:spPr>
            <a:ln w="19050" cap="rnd">
              <a:noFill/>
              <a:round/>
            </a:ln>
            <a:effectLst/>
          </c:spPr>
          <c:xVal>
            <c:numRef>
              <c:f>Sheet2!$M$14:$M$16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Sheet2!$N$14:$N$16</c:f>
              <c:numCache>
                <c:formatCode>General</c:formatCode>
                <c:ptCount val="3"/>
                <c:pt idx="0">
                  <c:v>631</c:v>
                </c:pt>
                <c:pt idx="1">
                  <c:v>1266</c:v>
                </c:pt>
                <c:pt idx="2">
                  <c:v>1901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349E-4870-AB30-9E45D865E87E}"/>
            </c:ext>
          </c:extLst>
        </c:ser>
        <c:ser>
          <c:idx val="7"/>
          <c:order val="6"/>
          <c:spPr>
            <a:ln w="19050" cap="rnd">
              <a:noFill/>
              <a:round/>
            </a:ln>
            <a:effectLst/>
          </c:spPr>
          <c:xVal>
            <c:numRef>
              <c:f>Sheet2!$O$14:$O$16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Sheet2!$P$14:$P$16</c:f>
              <c:numCache>
                <c:formatCode>General</c:formatCode>
                <c:ptCount val="3"/>
                <c:pt idx="0">
                  <c:v>631</c:v>
                </c:pt>
                <c:pt idx="1">
                  <c:v>1266</c:v>
                </c:pt>
                <c:pt idx="2">
                  <c:v>1902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349E-4870-AB30-9E45D865E87E}"/>
            </c:ext>
          </c:extLst>
        </c:ser>
        <c:ser>
          <c:idx val="8"/>
          <c:order val="7"/>
          <c:spPr>
            <a:ln w="19050" cap="rnd">
              <a:noFill/>
              <a:round/>
            </a:ln>
            <a:effectLst/>
          </c:spPr>
          <c:xVal>
            <c:numRef>
              <c:f>Sheet2!$Q$14:$Q$16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Sheet2!$R$14:$R$16</c:f>
              <c:numCache>
                <c:formatCode>General</c:formatCode>
                <c:ptCount val="3"/>
                <c:pt idx="0">
                  <c:v>631</c:v>
                </c:pt>
                <c:pt idx="1">
                  <c:v>1267</c:v>
                </c:pt>
                <c:pt idx="2">
                  <c:v>1902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349E-4870-AB30-9E45D865E87E}"/>
            </c:ext>
          </c:extLst>
        </c:ser>
        <c:ser>
          <c:idx val="9"/>
          <c:order val="8"/>
          <c:spPr>
            <a:ln w="19050" cap="rnd">
              <a:noFill/>
              <a:round/>
            </a:ln>
            <a:effectLst/>
          </c:spPr>
          <c:xVal>
            <c:numRef>
              <c:f>Sheet2!$S$14:$S$16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Sheet2!$T$14:$T$16</c:f>
              <c:numCache>
                <c:formatCode>General</c:formatCode>
                <c:ptCount val="3"/>
                <c:pt idx="0">
                  <c:v>631</c:v>
                </c:pt>
                <c:pt idx="1">
                  <c:v>1266</c:v>
                </c:pt>
                <c:pt idx="2">
                  <c:v>1902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349E-4870-AB30-9E45D865E87E}"/>
            </c:ext>
          </c:extLst>
        </c:ser>
        <c:ser>
          <c:idx val="0"/>
          <c:order val="9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trendlineType val="linear"/>
            <c:dispRSqr val="1"/>
            <c:dispEq val="1"/>
            <c:trendlineLbl>
              <c:layout>
                <c:manualLayout>
                  <c:x val="-4.4384733158355207E-2"/>
                  <c:y val="1.5509259259259259E-2"/>
                </c:manualLayout>
              </c:layout>
              <c:numFmt formatCode="General" sourceLinked="0"/>
            </c:trendlineLbl>
          </c:trendline>
          <c:xVal>
            <c:numRef>
              <c:f>Sheet2!$U$14:$U$16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Sheet2!$V$14:$V$16</c:f>
              <c:numCache>
                <c:formatCode>General</c:formatCode>
                <c:ptCount val="3"/>
                <c:pt idx="0">
                  <c:v>632</c:v>
                </c:pt>
                <c:pt idx="1">
                  <c:v>1267</c:v>
                </c:pt>
                <c:pt idx="2">
                  <c:v>1902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349E-4870-AB30-9E45D865E8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5382992"/>
        <c:axId val="375385944"/>
      </c:scatterChart>
      <c:valAx>
        <c:axId val="3753829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 b="0"/>
                </a:pPr>
                <a:r>
                  <a:rPr lang="en-US" sz="1000" b="0" i="0" u="none" strike="noStrike" baseline="0">
                    <a:effectLst/>
                  </a:rPr>
                  <a:t>Steps (Microstepping 1/2 step)</a:t>
                </a:r>
                <a:endParaRPr lang="en-US" b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5385944"/>
        <c:crosses val="autoZero"/>
        <c:crossBetween val="midCat"/>
      </c:valAx>
      <c:valAx>
        <c:axId val="375385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 b="0"/>
                </a:pPr>
                <a:r>
                  <a:rPr lang="en-US" b="0"/>
                  <a:t>um (Mitutoyo dial indicator)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538299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1"/>
          <c:order val="0"/>
          <c:spPr>
            <a:ln w="19050">
              <a:noFill/>
            </a:ln>
          </c:spPr>
          <c:xVal>
            <c:numRef>
              <c:f>Sheet2!$C$14:$C$16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Sheet2!$D$14:$D$16</c:f>
              <c:numCache>
                <c:formatCode>General</c:formatCode>
                <c:ptCount val="3"/>
                <c:pt idx="0">
                  <c:v>625</c:v>
                </c:pt>
                <c:pt idx="1">
                  <c:v>1258</c:v>
                </c:pt>
                <c:pt idx="2">
                  <c:v>1893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F9C-47EC-86FC-23B7857F73A9}"/>
            </c:ext>
          </c:extLst>
        </c:ser>
        <c:ser>
          <c:idx val="2"/>
          <c:order val="1"/>
          <c:spPr>
            <a:ln w="19050" cap="rnd">
              <a:noFill/>
              <a:round/>
            </a:ln>
            <a:effectLst/>
          </c:spPr>
          <c:xVal>
            <c:numRef>
              <c:f>Sheet2!$E$14:$E$16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Sheet2!$F$14:$F$16</c:f>
              <c:numCache>
                <c:formatCode>General</c:formatCode>
                <c:ptCount val="3"/>
                <c:pt idx="0">
                  <c:v>627</c:v>
                </c:pt>
                <c:pt idx="1">
                  <c:v>1260</c:v>
                </c:pt>
                <c:pt idx="2">
                  <c:v>1895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F9C-47EC-86FC-23B7857F73A9}"/>
            </c:ext>
          </c:extLst>
        </c:ser>
        <c:ser>
          <c:idx val="3"/>
          <c:order val="2"/>
          <c:spPr>
            <a:ln w="19050" cap="rnd">
              <a:noFill/>
              <a:round/>
            </a:ln>
            <a:effectLst/>
          </c:spPr>
          <c:xVal>
            <c:numRef>
              <c:f>Sheet2!$G$14:$G$16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Sheet2!$H$14:$H$16</c:f>
              <c:numCache>
                <c:formatCode>General</c:formatCode>
                <c:ptCount val="3"/>
                <c:pt idx="0">
                  <c:v>628</c:v>
                </c:pt>
                <c:pt idx="1">
                  <c:v>1264</c:v>
                </c:pt>
                <c:pt idx="2">
                  <c:v>1899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F9C-47EC-86FC-23B7857F73A9}"/>
            </c:ext>
          </c:extLst>
        </c:ser>
        <c:ser>
          <c:idx val="4"/>
          <c:order val="3"/>
          <c:spPr>
            <a:ln w="19050" cap="rnd">
              <a:noFill/>
              <a:round/>
            </a:ln>
            <a:effectLst/>
          </c:spPr>
          <c:xVal>
            <c:numRef>
              <c:f>Sheet2!$I$14:$I$16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Sheet2!$J$14:$J$16</c:f>
              <c:numCache>
                <c:formatCode>General</c:formatCode>
                <c:ptCount val="3"/>
                <c:pt idx="0">
                  <c:v>628</c:v>
                </c:pt>
                <c:pt idx="1">
                  <c:v>1263</c:v>
                </c:pt>
                <c:pt idx="2">
                  <c:v>1899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F9C-47EC-86FC-23B7857F73A9}"/>
            </c:ext>
          </c:extLst>
        </c:ser>
        <c:ser>
          <c:idx val="5"/>
          <c:order val="4"/>
          <c:spPr>
            <a:ln w="19050" cap="rnd">
              <a:noFill/>
              <a:round/>
            </a:ln>
            <a:effectLst/>
          </c:spPr>
          <c:xVal>
            <c:numRef>
              <c:f>Sheet2!$K$14:$K$16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Sheet2!$L$14:$L$16</c:f>
              <c:numCache>
                <c:formatCode>General</c:formatCode>
                <c:ptCount val="3"/>
                <c:pt idx="0">
                  <c:v>631</c:v>
                </c:pt>
                <c:pt idx="1">
                  <c:v>1266</c:v>
                </c:pt>
                <c:pt idx="2">
                  <c:v>1901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DF9C-47EC-86FC-23B7857F73A9}"/>
            </c:ext>
          </c:extLst>
        </c:ser>
        <c:ser>
          <c:idx val="6"/>
          <c:order val="5"/>
          <c:spPr>
            <a:ln w="19050" cap="rnd">
              <a:noFill/>
              <a:round/>
            </a:ln>
            <a:effectLst/>
          </c:spPr>
          <c:xVal>
            <c:numRef>
              <c:f>Sheet2!$M$14:$M$16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Sheet2!$N$14:$N$16</c:f>
              <c:numCache>
                <c:formatCode>General</c:formatCode>
                <c:ptCount val="3"/>
                <c:pt idx="0">
                  <c:v>631</c:v>
                </c:pt>
                <c:pt idx="1">
                  <c:v>1266</c:v>
                </c:pt>
                <c:pt idx="2">
                  <c:v>1901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DF9C-47EC-86FC-23B7857F73A9}"/>
            </c:ext>
          </c:extLst>
        </c:ser>
        <c:ser>
          <c:idx val="7"/>
          <c:order val="6"/>
          <c:spPr>
            <a:ln w="19050" cap="rnd">
              <a:noFill/>
              <a:round/>
            </a:ln>
            <a:effectLst/>
          </c:spPr>
          <c:xVal>
            <c:numRef>
              <c:f>Sheet2!$O$14:$O$16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Sheet2!$P$14:$P$16</c:f>
              <c:numCache>
                <c:formatCode>General</c:formatCode>
                <c:ptCount val="3"/>
                <c:pt idx="0">
                  <c:v>631</c:v>
                </c:pt>
                <c:pt idx="1">
                  <c:v>1266</c:v>
                </c:pt>
                <c:pt idx="2">
                  <c:v>1902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DF9C-47EC-86FC-23B7857F73A9}"/>
            </c:ext>
          </c:extLst>
        </c:ser>
        <c:ser>
          <c:idx val="8"/>
          <c:order val="7"/>
          <c:spPr>
            <a:ln w="19050" cap="rnd">
              <a:noFill/>
              <a:round/>
            </a:ln>
            <a:effectLst/>
          </c:spPr>
          <c:xVal>
            <c:numRef>
              <c:f>Sheet2!$Q$14:$Q$16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Sheet2!$R$14:$R$16</c:f>
              <c:numCache>
                <c:formatCode>General</c:formatCode>
                <c:ptCount val="3"/>
                <c:pt idx="0">
                  <c:v>631</c:v>
                </c:pt>
                <c:pt idx="1">
                  <c:v>1267</c:v>
                </c:pt>
                <c:pt idx="2">
                  <c:v>1902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DF9C-47EC-86FC-23B7857F73A9}"/>
            </c:ext>
          </c:extLst>
        </c:ser>
        <c:ser>
          <c:idx val="9"/>
          <c:order val="8"/>
          <c:spPr>
            <a:ln w="19050" cap="rnd">
              <a:noFill/>
              <a:round/>
            </a:ln>
            <a:effectLst/>
          </c:spPr>
          <c:xVal>
            <c:numRef>
              <c:f>Sheet2!$S$14:$S$16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Sheet2!$T$14:$T$16</c:f>
              <c:numCache>
                <c:formatCode>General</c:formatCode>
                <c:ptCount val="3"/>
                <c:pt idx="0">
                  <c:v>631</c:v>
                </c:pt>
                <c:pt idx="1">
                  <c:v>1266</c:v>
                </c:pt>
                <c:pt idx="2">
                  <c:v>1902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DF9C-47EC-86FC-23B7857F73A9}"/>
            </c:ext>
          </c:extLst>
        </c:ser>
        <c:ser>
          <c:idx val="0"/>
          <c:order val="9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trendlineType val="linear"/>
            <c:dispRSqr val="0"/>
            <c:dispEq val="0"/>
          </c:trendline>
          <c:xVal>
            <c:numRef>
              <c:f>Sheet2!$U$14:$U$16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</c:numCache>
            </c:numRef>
          </c:xVal>
          <c:yVal>
            <c:numRef>
              <c:f>Sheet2!$V$14:$V$16</c:f>
              <c:numCache>
                <c:formatCode>General</c:formatCode>
                <c:ptCount val="3"/>
                <c:pt idx="0">
                  <c:v>632</c:v>
                </c:pt>
                <c:pt idx="1">
                  <c:v>1267</c:v>
                </c:pt>
                <c:pt idx="2">
                  <c:v>1902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DF9C-47EC-86FC-23B7857F73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5382992"/>
        <c:axId val="375385944"/>
      </c:scatterChart>
      <c:valAx>
        <c:axId val="375382992"/>
        <c:scaling>
          <c:orientation val="minMax"/>
          <c:max val="810"/>
          <c:min val="79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 b="0"/>
                </a:pPr>
                <a:r>
                  <a:rPr lang="en-US" b="0" dirty="0" smtClean="0"/>
                  <a:t>steps</a:t>
                </a:r>
                <a:endParaRPr lang="en-US" b="0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5385944"/>
        <c:crosses val="autoZero"/>
        <c:crossBetween val="midCat"/>
      </c:valAx>
      <c:valAx>
        <c:axId val="375385944"/>
        <c:scaling>
          <c:orientation val="minMax"/>
          <c:max val="1270"/>
          <c:min val="125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 b="0"/>
                </a:pPr>
                <a:r>
                  <a:rPr lang="en-US" b="0" dirty="0" smtClean="0"/>
                  <a:t>um</a:t>
                </a:r>
                <a:endParaRPr lang="en-US" b="0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5382992"/>
        <c:crosses val="autoZero"/>
        <c:crossBetween val="midCat"/>
      </c:valAx>
    </c:plotArea>
    <c:plotVisOnly val="1"/>
    <c:dispBlanksAs val="gap"/>
    <c:showDLblsOverMax val="0"/>
  </c:chart>
  <c:spPr>
    <a:ln w="12700">
      <a:solidFill>
        <a:schemeClr val="tx1"/>
      </a:solidFill>
    </a:ln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/>
              <a:t>Cell stretcher test </a:t>
            </a:r>
            <a:r>
              <a:rPr lang="en-US" sz="1200" dirty="0" smtClean="0"/>
              <a:t>(10</a:t>
            </a:r>
            <a:r>
              <a:rPr lang="en-US" sz="1200" baseline="0" dirty="0" smtClean="0"/>
              <a:t> step </a:t>
            </a:r>
            <a:r>
              <a:rPr lang="en-US" sz="1200" dirty="0" smtClean="0"/>
              <a:t>increment)</a:t>
            </a:r>
            <a:endParaRPr lang="en-US" sz="12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Sheet3!$F$6</c:f>
              <c:strCache>
                <c:ptCount val="1"/>
                <c:pt idx="0">
                  <c:v>um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8.8763779527559053E-2"/>
                  <c:y val="-4.1666666666666669E-4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Sheet3!$E$7:$E$33</c:f>
              <c:numCache>
                <c:formatCode>General</c:formatCode>
                <c:ptCount val="27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</c:numCache>
            </c:numRef>
          </c:xVal>
          <c:yVal>
            <c:numRef>
              <c:f>Sheet3!$F$7:$F$33</c:f>
              <c:numCache>
                <c:formatCode>General</c:formatCode>
                <c:ptCount val="27"/>
                <c:pt idx="0">
                  <c:v>2</c:v>
                </c:pt>
                <c:pt idx="1">
                  <c:v>17</c:v>
                </c:pt>
                <c:pt idx="2">
                  <c:v>33</c:v>
                </c:pt>
                <c:pt idx="3">
                  <c:v>48</c:v>
                </c:pt>
                <c:pt idx="4">
                  <c:v>64</c:v>
                </c:pt>
                <c:pt idx="5">
                  <c:v>80</c:v>
                </c:pt>
                <c:pt idx="6">
                  <c:v>95</c:v>
                </c:pt>
                <c:pt idx="7">
                  <c:v>111</c:v>
                </c:pt>
                <c:pt idx="8">
                  <c:v>127</c:v>
                </c:pt>
                <c:pt idx="9">
                  <c:v>142</c:v>
                </c:pt>
                <c:pt idx="10">
                  <c:v>159</c:v>
                </c:pt>
                <c:pt idx="11">
                  <c:v>174</c:v>
                </c:pt>
                <c:pt idx="12">
                  <c:v>190</c:v>
                </c:pt>
                <c:pt idx="13">
                  <c:v>206</c:v>
                </c:pt>
                <c:pt idx="14">
                  <c:v>222</c:v>
                </c:pt>
                <c:pt idx="15">
                  <c:v>238</c:v>
                </c:pt>
                <c:pt idx="16">
                  <c:v>255</c:v>
                </c:pt>
                <c:pt idx="17">
                  <c:v>271</c:v>
                </c:pt>
                <c:pt idx="18">
                  <c:v>287</c:v>
                </c:pt>
                <c:pt idx="19">
                  <c:v>303</c:v>
                </c:pt>
                <c:pt idx="20">
                  <c:v>319</c:v>
                </c:pt>
                <c:pt idx="21">
                  <c:v>335</c:v>
                </c:pt>
                <c:pt idx="22">
                  <c:v>351</c:v>
                </c:pt>
                <c:pt idx="23">
                  <c:v>367</c:v>
                </c:pt>
                <c:pt idx="24">
                  <c:v>383</c:v>
                </c:pt>
                <c:pt idx="25">
                  <c:v>399</c:v>
                </c:pt>
                <c:pt idx="26">
                  <c:v>415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1B7-4B57-9D69-4B043F97EC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5383648"/>
        <c:axId val="375385288"/>
      </c:scatterChart>
      <c:valAx>
        <c:axId val="3753836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Steps</a:t>
                </a:r>
                <a:r>
                  <a:rPr lang="en-US" baseline="0"/>
                  <a:t> (Microstepping 1/2 step)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5385288"/>
        <c:crosses val="autoZero"/>
        <c:crossBetween val="midCat"/>
      </c:valAx>
      <c:valAx>
        <c:axId val="375385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um (Mitutoyo</a:t>
                </a:r>
                <a:r>
                  <a:rPr lang="en-US" baseline="0"/>
                  <a:t> dial indicator)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53836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53534-900E-4644-8EFF-4469A01A654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42C7-0B8F-47BA-B5F9-96921B1C9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5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53534-900E-4644-8EFF-4469A01A654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42C7-0B8F-47BA-B5F9-96921B1C9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25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53534-900E-4644-8EFF-4469A01A654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42C7-0B8F-47BA-B5F9-96921B1C9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7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53534-900E-4644-8EFF-4469A01A654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42C7-0B8F-47BA-B5F9-96921B1C9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74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53534-900E-4644-8EFF-4469A01A654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42C7-0B8F-47BA-B5F9-96921B1C9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34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53534-900E-4644-8EFF-4469A01A654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42C7-0B8F-47BA-B5F9-96921B1C9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20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53534-900E-4644-8EFF-4469A01A654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42C7-0B8F-47BA-B5F9-96921B1C9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50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53534-900E-4644-8EFF-4469A01A654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42C7-0B8F-47BA-B5F9-96921B1C9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56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53534-900E-4644-8EFF-4469A01A654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42C7-0B8F-47BA-B5F9-96921B1C9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70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53534-900E-4644-8EFF-4469A01A654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42C7-0B8F-47BA-B5F9-96921B1C9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22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53534-900E-4644-8EFF-4469A01A654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42C7-0B8F-47BA-B5F9-96921B1C9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9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53534-900E-4644-8EFF-4469A01A654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B42C7-0B8F-47BA-B5F9-96921B1C9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36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8439494"/>
              </p:ext>
            </p:extLst>
          </p:nvPr>
        </p:nvGraphicFramePr>
        <p:xfrm>
          <a:off x="1036076" y="70314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2807091" y="1624644"/>
            <a:ext cx="362968" cy="3350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3170059" y="1959692"/>
            <a:ext cx="1492590" cy="449870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170059" y="1624644"/>
            <a:ext cx="1492590" cy="20905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Char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2277734"/>
              </p:ext>
            </p:extLst>
          </p:nvPr>
        </p:nvGraphicFramePr>
        <p:xfrm>
          <a:off x="4662649" y="37152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2700327"/>
              </p:ext>
            </p:extLst>
          </p:nvPr>
        </p:nvGraphicFramePr>
        <p:xfrm>
          <a:off x="6846876" y="70314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9397628" y="3885880"/>
            <a:ext cx="2409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Resolution of 1.587 um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US" dirty="0" smtClean="0"/>
              <a:t>1.6 um 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740" y="3876221"/>
            <a:ext cx="3228210" cy="242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631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Francis Crick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Xavier Cano Ferrer</dc:creator>
  <cp:lastModifiedBy>Xavier Cano Ferrer</cp:lastModifiedBy>
  <cp:revision>1</cp:revision>
  <dcterms:created xsi:type="dcterms:W3CDTF">2022-06-22T17:24:42Z</dcterms:created>
  <dcterms:modified xsi:type="dcterms:W3CDTF">2022-06-22T17:28:30Z</dcterms:modified>
</cp:coreProperties>
</file>